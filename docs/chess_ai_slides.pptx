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THE PROJECT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D24"/>
                </a:solidFill>
                <a:latin typeface="Segoe UI"/>
              </a:rPr>
              <a:t>Teaching a network chess, with no chess knowledge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67665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1A1D24"/>
                </a:solidFill>
                <a:latin typeface="Segoe UI"/>
              </a:rPr>
              <a:t>No opening book. No piece values. No evaluation function.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A1D24"/>
                </a:solidFill>
                <a:latin typeface="Segoe UI"/>
              </a:rPr>
              <a:t>Input: the rules, plus human games. Everything else is learned.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A1D24"/>
                </a:solidFill>
                <a:latin typeface="Segoe UI"/>
              </a:rPr>
              <a:t>One network, two heads — policy (which moves look good) and value (who is winning).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A1D24"/>
                </a:solidFill>
                <a:latin typeface="Segoe UI"/>
              </a:rPr>
              <a:t>The network is not a player. Monte Carlo Tree Search turns it into one.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A1D24"/>
                </a:solidFill>
                <a:latin typeface="Segoe UI"/>
              </a:rPr>
              <a:t>Two stages: imitate humans, then improve by playing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2103120"/>
            <a:ext cx="356616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267712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1F4E9C"/>
                </a:solidFill>
                <a:latin typeface="Segoe UI"/>
              </a:rPr>
              <a:t>760,717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trainable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3794760"/>
            <a:ext cx="356616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3959352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1A7F4B"/>
                </a:solidFill>
                <a:latin typeface="Segoe UI"/>
              </a:rPr>
              <a:t>676,648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human positions used for pretraining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472"/>
                </a:solidFill>
                <a:latin typeface="Segoe UI"/>
              </a:rPr>
              <a:t>AlphaZero used ~5,000 TPUs. This runs on one desktop with an RTX 3060.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DATA SCIENCE: REPRESENTATION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D24"/>
                </a:solidFill>
                <a:latin typeface="Segoe UI"/>
              </a:rPr>
              <a:t>From chessboard to tensor to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6949440" cy="443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F4E9C"/>
                </a:solidFill>
                <a:latin typeface="Segoe UI"/>
              </a:rPr>
              <a:t>Input — 18 binary planes of 8×8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12 piece planes (6 types × 2 colours) · 4 castling rights · 1 en passant · 1 side to move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F4E9C"/>
                </a:solidFill>
                <a:latin typeface="Segoe UI"/>
              </a:rPr>
              <a:t>Output — 4,672 actions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64 origin squares × 73 move types: 56 queen-style, 8 knight, 9 underpromotions. Every legal move maps to exactly one index — round-trip tested, 0 collisions.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F4E9C"/>
                </a:solidFill>
                <a:latin typeface="Segoe UI"/>
              </a:rPr>
              <a:t>The network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3×3 conv 18→64, ten residual blocks with batch norm, then two heads: policy → 4,672 logits, value → one scalar in [−1, 1].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Both heads share the trunk, so one representation must serve two tasks.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011680"/>
            <a:ext cx="338328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217627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F4E9C"/>
                </a:solidFill>
                <a:latin typeface="Segoe UI"/>
              </a:rPr>
              <a:t>18 × 8 × 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board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3520440"/>
            <a:ext cx="338328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68503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F4E9C"/>
                </a:solidFill>
                <a:latin typeface="Segoe UI"/>
              </a:rPr>
              <a:t>4,672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moves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5029200"/>
            <a:ext cx="338328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51937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A7F4B"/>
                </a:solidFill>
                <a:latin typeface="Segoe UI"/>
              </a:rPr>
              <a:t>760,717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43600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472"/>
                </a:solidFill>
                <a:latin typeface="Segoe UI"/>
              </a:rPr>
              <a:t>Representation is the part you cannot fix later with more compute.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STAGE 1 · SUPERVISED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7F4B"/>
                </a:solidFill>
                <a:latin typeface="Segoe UI"/>
              </a:rPr>
              <a:t>Learning from 677k human positions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train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5486400" cy="4291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210312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1D24"/>
                </a:solidFill>
                <a:latin typeface="Segoe UI"/>
              </a:rPr>
              <a:t>Lichess database, both players rated 1750+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The Elo filter keeps only ~12% of games — imitate competent play, not average play.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7F4B"/>
                </a:solidFill>
                <a:latin typeface="Segoe UI"/>
              </a:rPr>
              <a:t>Policy cross-entropy 3.90 → 2.06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≈ 13% probability on the exact move a strong human chose, out of 4,672 options.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7F4B"/>
                </a:solidFill>
                <a:latin typeface="Segoe UI"/>
              </a:rPr>
              <a:t>It plays real chess: e4/d4 openings, wins a hanging queen, finds mate in one. 85% vs random.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STAGE 2 · SELF-PLAY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D24"/>
                </a:solidFill>
                <a:latin typeface="Segoe UI"/>
              </a:rPr>
              <a:t>300 iterations. The loss fell the whole way.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5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5486400" cy="3652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210312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A1D24"/>
                </a:solidFill>
                <a:latin typeface="Segoe UI"/>
              </a:rPr>
              <a:t>Training loss: 2.36 → 1.85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1A1D24"/>
                </a:solidFill>
                <a:latin typeface="Segoe UI"/>
              </a:rPr>
              <a:t>Monotonic. Textbook. Exactly what you hope to see.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5A6472"/>
                </a:solidFill>
                <a:latin typeface="Segoe UI"/>
              </a:rPr>
              <a:t>Reported evaluation score: 50%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1A1D24"/>
                </a:solidFill>
                <a:latin typeface="Segoe UI"/>
              </a:rPr>
              <a:t>For 159 consecutive measurements across two multi-hour runs.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B3352C"/>
                </a:solidFill>
                <a:latin typeface="Segoe UI"/>
              </a:rPr>
              <a:t>I read that as “evenly matched.”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1A1D24"/>
                </a:solidFill>
                <a:latin typeface="Segoe UI"/>
              </a:rPr>
              <a:t>It was not. It was a metric that could not return anything else.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THE BUG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B3352C"/>
                </a:solidFill>
                <a:latin typeface="Segoe UI"/>
              </a:rPr>
              <a:t>The evaluation was measuring nothing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989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A1D24"/>
                </a:solidFill>
                <a:latin typeface="Segoe UI"/>
              </a:rPr>
              <a:t>The network alternated colours — half its games as white, half as black.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B3352C"/>
                </a:solidFill>
                <a:latin typeface="Segoe UI"/>
              </a:rPr>
              <a:t>The score counted white’s wins.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A1D24"/>
                </a:solidFill>
                <a:latin typeface="Segoe UI"/>
              </a:rPr>
              <a:t>So every game the network won as black was recorded as a loss.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A1D24"/>
                </a:solidFill>
                <a:latin typeface="Segoe UI"/>
              </a:rPr>
              <a:t>With two deterministic players and no opening randomisation, all five games per colour are identical — the tally can only be symmetric.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2194560"/>
            <a:ext cx="4572000" cy="1097280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2340864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5A6472"/>
                </a:solidFill>
                <a:latin typeface="Consolas"/>
              </a:rPr>
              <a:t>[iter 454] eval: {'1-0': 0, '0-1': 0, '1/2-1/2': 10}  50%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5A6472"/>
                </a:solidFill>
                <a:latin typeface="Consolas"/>
              </a:rPr>
              <a:t>[iter 499] eval: {'1-0': 0, '0-1': 0, '1/2-1/2': 10}  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3657600"/>
            <a:ext cx="214884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3822192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B3352C"/>
                </a:solidFill>
                <a:latin typeface="Segoe UI"/>
              </a:rPr>
              <a:t>159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useless data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3657600"/>
            <a:ext cx="214884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3822192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A7F4B"/>
                </a:solidFill>
                <a:latin typeface="Segoe UI"/>
              </a:rPr>
              <a:t>44% → 85%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true score, once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43600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472"/>
                </a:solidFill>
                <a:latin typeface="Segoe UI"/>
              </a:rPr>
              <a:t>A metric returning a plausible constant is more dangerous than one that crashes.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THE REAL RESULT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B3352C"/>
                </a:solidFill>
                <a:latin typeface="Segoe UI"/>
              </a:rPr>
              <a:t>Self-play made the model worse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103120"/>
            <a:ext cx="10820095" cy="1737360"/>
          </a:xfrm>
          <a:prstGeom prst="rect">
            <a:avLst/>
          </a:prstGeom>
          <a:solidFill>
            <a:srgbClr val="FB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B3352C"/>
                </a:solidFill>
                <a:latin typeface="Segoe UI"/>
              </a:rPr>
              <a:t>v5 final   2.5  —  5.5   its own starting point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472"/>
                </a:solidFill>
                <a:latin typeface="Segoe UI"/>
              </a:rPr>
              <a:t>8 games, alternating colours, randomised openings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108200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A1D24"/>
                </a:solidFill>
                <a:latin typeface="Segoe UI"/>
              </a:rPr>
              <a:t>The final model lost to the model it started from.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1A1D24"/>
                </a:solidFill>
                <a:latin typeface="Segoe UI"/>
              </a:rPr>
              <a:t>Hours of compute made it measurably weaker — while the loss curve fell the entire time.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F4E9C"/>
                </a:solidFill>
                <a:latin typeface="Segoe UI"/>
              </a:rPr>
              <a:t>Why the loss is not a strength signal: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1A1D24"/>
                </a:solidFill>
                <a:latin typeface="Segoe UI"/>
              </a:rPr>
              <a:t>The loss is computed against targets the model generated itself. Minimising it proves the model agrees with itself. It says nothing about whether it plays better chess.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1A1D24"/>
                </a:solidFill>
                <a:latin typeface="Segoe UI"/>
              </a:rPr>
              <a:t>Every self-training and self-supervised pipeline shares this structure — and therefore this failure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DIAGNOSIS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D24"/>
                </a:solidFill>
                <a:latin typeface="Segoe UI"/>
              </a:rPr>
              <a:t>Two root causes, isolated by experiment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ms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120640" cy="42358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20116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F4E9C"/>
                </a:solidFill>
                <a:latin typeface="Segoe UI"/>
              </a:rPr>
              <a:t>1 · The targets were noise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1A1D24"/>
                </a:solidFill>
                <a:latin typeface="Segoe UI"/>
              </a:rPr>
              <a:t>Search is not weak — MCTS beats the raw policy 79% at 40 simulations. But 40 simulations over ~30 legal moves is 1.3 visits per move.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1A1D24"/>
                </a:solidFill>
                <a:latin typeface="Segoe UI"/>
              </a:rPr>
              <a:t>The best move is good; the distribution is sampling noise — and the loss trains on the distribution.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B3352C"/>
                </a:solidFill>
                <a:latin typeface="Segoe UI"/>
              </a:rPr>
              <a:t>2 · The augmentation was illegal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1A1D24"/>
                </a:solidFill>
                <a:latin typeface="Segoe UI"/>
              </a:rPr>
              <a:t>Mirroring flipped board files but never swapped the castling planes. The king lands on d1 with “kingside castling” still set — a position that cannot exist in chess.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B3352C"/>
                </a:solidFill>
                <a:latin typeface="Segoe UI"/>
              </a:rPr>
              <a:t>~50% of every training batch was corrupted.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THE FIX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7F4B"/>
                </a:solidFill>
                <a:latin typeface="Segoe UI"/>
              </a:rPr>
              <a:t>Gating stopped the bleeding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7F4B"/>
                </a:solidFill>
                <a:latin typeface="Segoe UI"/>
              </a:rPr>
              <a:t>Acceptance gating, from AlphaGo Zero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Self-play always generates from the best weights so far; new weights are promoted only after scoring ≥ 55% against the incumbent.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Plus castling-aware augmentation, 128 simulations instead of 40, 80 gradient steps instead of 200.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7F4B"/>
                </a:solidFill>
                <a:latin typeface="Segoe UI"/>
              </a:rPr>
              <a:t>199 iterations later — no regression.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The candidates the gate rejected averaged 42.2% vs baseline (p = 0.004): self-play was still degrading the network.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The gate kept that damage out of the deployed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2194560"/>
            <a:ext cx="4023360" cy="1097280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99247" y="2340864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A1D24"/>
                </a:solidFill>
                <a:latin typeface="Consolas"/>
              </a:rPr>
              <a:t>gate: candidate 43.8%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B3352C"/>
                </a:solidFill>
                <a:latin typeface="Consolas"/>
              </a:rPr>
              <a:t>      vs best -&gt; rejected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3657600"/>
            <a:ext cx="402336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822192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1A7F4B"/>
                </a:solidFill>
                <a:latin typeface="Segoe UI"/>
              </a:rPr>
              <a:t>46.2%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gated model vs its starting point — no detectable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472"/>
                </a:solidFill>
                <a:latin typeface="Segoe UI"/>
              </a:rPr>
              <a:t>v5 without the fixes: 31.2%. Gating converted a real regression into no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Segoe UI"/>
              </a:rPr>
              <a:t>WHAT I TAKE AWAY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D24"/>
                </a:solidFill>
                <a:latin typeface="Segoe UI"/>
              </a:rPr>
              <a:t>Measurement is the hard 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72768"/>
            <a:ext cx="1371600" cy="381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6949440" cy="443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1D24"/>
                </a:solidFill>
                <a:latin typeface="Segoe UI"/>
              </a:rPr>
              <a:t>A falling loss curve is not evidence that anything is working.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Especially when the model produces its own labels.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1D24"/>
                </a:solidFill>
                <a:latin typeface="Segoe UI"/>
              </a:rPr>
              <a:t>Verify the metric before trusting the model.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Mine returned a plausible number 159 times in a row while measuring nothing at all.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A1D24"/>
                </a:solidFill>
                <a:latin typeface="Segoe UI"/>
              </a:rPr>
              <a:t>Downscaling changes which statistic matters.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800 → 40 simulations preserves the best move but destroys the distribution — and the loss reads the distribution.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B3352C"/>
                </a:solidFill>
                <a:latin typeface="Segoe UI"/>
              </a:rPr>
              <a:t>Then audit the fix too.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1A1D24"/>
                </a:solidFill>
                <a:latin typeface="Segoe UI"/>
              </a:rPr>
              <a:t>My gate promoted 8 of 20 candidates. Pure chance predicts 7.8 — an 8-game match could never have resolved this. The same mistake, one level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2103120"/>
            <a:ext cx="3291840" cy="31089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23317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 i="0">
                <a:solidFill>
                  <a:srgbClr val="1F4E9C"/>
                </a:solidFill>
                <a:latin typeface="Segoe UI"/>
              </a:rPr>
              <a:t>Artifacts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A6472"/>
                </a:solidFill>
                <a:latin typeface="Segoe UI"/>
              </a:rPr>
              <a:t>Code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D24"/>
                </a:solidFill>
                <a:latin typeface="Segoe UI"/>
              </a:rPr>
              <a:t>github.com/realgauravvyas/chess-ai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A6472"/>
                </a:solidFill>
                <a:latin typeface="Segoe UI"/>
              </a:rPr>
              <a:t>Results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D24"/>
                </a:solidFill>
                <a:latin typeface="Segoe UI"/>
              </a:rPr>
              <a:t>RESULTS.md — every number, reproducible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A6472"/>
                </a:solidFill>
                <a:latin typeface="Segoe UI"/>
              </a:rPr>
              <a:t>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D24"/>
                </a:solidFill>
                <a:latin typeface="Segoe UI"/>
              </a:rPr>
              <a:t>Live training dashboard + play any checkpoint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